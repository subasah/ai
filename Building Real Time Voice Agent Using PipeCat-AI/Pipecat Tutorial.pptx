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ab4b312ae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ab4b312ae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ab4b312aef_2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 name="Google Shape;101;g3ab4b312aef_2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ab4b312aef_2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 name="Google Shape;106;g3ab4b312aef_2_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ab4b312aef_2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g3ab4b312aef_2_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ab4b312aef_2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 name="Google Shape;116;g3ab4b312aef_2_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ab4b312aef_2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 name="Google Shape;121;g3ab4b312aef_2_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ab4b312aef_2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 name="Google Shape;126;g3ab4b312aef_2_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ab4b312aef_2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 name="Google Shape;131;g3ab4b312aef_2_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ab4b312aef_2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 name="Google Shape;136;g3ab4b312aef_2_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ab4b312aef_2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 name="Google Shape;141;g3ab4b312aef_2_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ab4b312aef_2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 name="Google Shape;146;g3ab4b312aef_2_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ab4b312aef_2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 name="Google Shape;151;g3ab4b312aef_2_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ab4b312aef_2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6" name="Google Shape;156;g3ab4b312aef_2_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ab4b312aef_2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1" name="Google Shape;161;g3ab4b312aef_2_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ab4b312aef_2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6" name="Google Shape;166;g3ab4b312aef_2_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ab4b312aef_2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1" name="Google Shape;171;g3ab4b312aef_2_1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ab4b312aef_2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g3ab4b312aef_2_1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ab4b312aef_2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 name="Google Shape;181;g3ab4b312aef_2_1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ab4b312aef_2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6" name="Google Shape;186;g3ab4b312aef_2_1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ab4b312aef_2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1" name="Google Shape;191;g3ab4b312aef_2_1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ab4b312aef_2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6" name="Google Shape;196;g3ab4b312aef_2_1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ab4b312aef_2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1" name="Google Shape;201;g3ab4b312aef_2_1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ab4b312aef_2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6" name="Google Shape;206;g3ab4b312aef_2_1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ab4b312aef_2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1" name="Google Shape;211;g3ab4b312aef_2_1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ab4b312aef_2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6" name="Google Shape;216;g3ab4b312aef_2_1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ab4b312aef_2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1" name="Google Shape;221;g3ab4b312aef_2_1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6" name="Shape 56"/>
        <p:cNvGrpSpPr/>
        <p:nvPr/>
      </p:nvGrpSpPr>
      <p:grpSpPr>
        <a:xfrm>
          <a:off x="0" y="0"/>
          <a:ext cx="0" cy="0"/>
          <a:chOff x="0" y="0"/>
          <a:chExt cx="0" cy="0"/>
        </a:xfrm>
      </p:grpSpPr>
      <p:sp>
        <p:nvSpPr>
          <p:cNvPr id="57" name="Google Shape;57;p1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58" name="Google Shape;58;p15"/>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9" name="Google Shape;59;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0" name="Shape 60"/>
        <p:cNvGrpSpPr/>
        <p:nvPr/>
      </p:nvGrpSpPr>
      <p:grpSpPr>
        <a:xfrm>
          <a:off x="0" y="0"/>
          <a:ext cx="0" cy="0"/>
          <a:chOff x="0" y="0"/>
          <a:chExt cx="0" cy="0"/>
        </a:xfrm>
      </p:grpSpPr>
      <p:sp>
        <p:nvSpPr>
          <p:cNvPr id="61" name="Google Shape;61;p16"/>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2" name="Google Shape;62;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3" name="Shape 63"/>
        <p:cNvGrpSpPr/>
        <p:nvPr/>
      </p:nvGrpSpPr>
      <p:grpSpPr>
        <a:xfrm>
          <a:off x="0" y="0"/>
          <a:ext cx="0" cy="0"/>
          <a:chOff x="0" y="0"/>
          <a:chExt cx="0" cy="0"/>
        </a:xfrm>
      </p:grpSpPr>
      <p:sp>
        <p:nvSpPr>
          <p:cNvPr id="64" name="Google Shape;64;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5" name="Google Shape;65;p1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66" name="Google Shape;66;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7" name="Shape 67"/>
        <p:cNvGrpSpPr/>
        <p:nvPr/>
      </p:nvGrpSpPr>
      <p:grpSpPr>
        <a:xfrm>
          <a:off x="0" y="0"/>
          <a:ext cx="0" cy="0"/>
          <a:chOff x="0" y="0"/>
          <a:chExt cx="0" cy="0"/>
        </a:xfrm>
      </p:grpSpPr>
      <p:sp>
        <p:nvSpPr>
          <p:cNvPr id="68" name="Google Shape;68;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9" name="Google Shape;69;p18"/>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0" name="Google Shape;70;p18"/>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1" name="Google Shape;71;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2" name="Shape 72"/>
        <p:cNvGrpSpPr/>
        <p:nvPr/>
      </p:nvGrpSpPr>
      <p:grpSpPr>
        <a:xfrm>
          <a:off x="0" y="0"/>
          <a:ext cx="0" cy="0"/>
          <a:chOff x="0" y="0"/>
          <a:chExt cx="0" cy="0"/>
        </a:xfrm>
      </p:grpSpPr>
      <p:sp>
        <p:nvSpPr>
          <p:cNvPr id="73" name="Google Shape;73;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4" name="Google Shape;74;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5" name="Shape 75"/>
        <p:cNvGrpSpPr/>
        <p:nvPr/>
      </p:nvGrpSpPr>
      <p:grpSpPr>
        <a:xfrm>
          <a:off x="0" y="0"/>
          <a:ext cx="0" cy="0"/>
          <a:chOff x="0" y="0"/>
          <a:chExt cx="0" cy="0"/>
        </a:xfrm>
      </p:grpSpPr>
      <p:sp>
        <p:nvSpPr>
          <p:cNvPr id="76" name="Google Shape;76;p20"/>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77" name="Google Shape;77;p20"/>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8" name="Google Shape;78;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9" name="Shape 79"/>
        <p:cNvGrpSpPr/>
        <p:nvPr/>
      </p:nvGrpSpPr>
      <p:grpSpPr>
        <a:xfrm>
          <a:off x="0" y="0"/>
          <a:ext cx="0" cy="0"/>
          <a:chOff x="0" y="0"/>
          <a:chExt cx="0" cy="0"/>
        </a:xfrm>
      </p:grpSpPr>
      <p:sp>
        <p:nvSpPr>
          <p:cNvPr id="80" name="Google Shape;80;p21"/>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81" name="Google Shape;81;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2" name="Shape 82"/>
        <p:cNvGrpSpPr/>
        <p:nvPr/>
      </p:nvGrpSpPr>
      <p:grpSpPr>
        <a:xfrm>
          <a:off x="0" y="0"/>
          <a:ext cx="0" cy="0"/>
          <a:chOff x="0" y="0"/>
          <a:chExt cx="0" cy="0"/>
        </a:xfrm>
      </p:grpSpPr>
      <p:sp>
        <p:nvSpPr>
          <p:cNvPr id="83" name="Google Shape;83;p22"/>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22"/>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5" name="Google Shape;85;p22"/>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6" name="Google Shape;86;p22"/>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87" name="Google Shape;87;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8" name="Shape 88"/>
        <p:cNvGrpSpPr/>
        <p:nvPr/>
      </p:nvGrpSpPr>
      <p:grpSpPr>
        <a:xfrm>
          <a:off x="0" y="0"/>
          <a:ext cx="0" cy="0"/>
          <a:chOff x="0" y="0"/>
          <a:chExt cx="0" cy="0"/>
        </a:xfrm>
      </p:grpSpPr>
      <p:sp>
        <p:nvSpPr>
          <p:cNvPr id="89" name="Google Shape;89;p23"/>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90" name="Google Shape;90;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1" name="Shape 91"/>
        <p:cNvGrpSpPr/>
        <p:nvPr/>
      </p:nvGrpSpPr>
      <p:grpSpPr>
        <a:xfrm>
          <a:off x="0" y="0"/>
          <a:ext cx="0" cy="0"/>
          <a:chOff x="0" y="0"/>
          <a:chExt cx="0" cy="0"/>
        </a:xfrm>
      </p:grpSpPr>
      <p:sp>
        <p:nvSpPr>
          <p:cNvPr id="92" name="Google Shape;92;p24"/>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3" name="Google Shape;93;p24"/>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94" name="Google Shape;94;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2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2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8.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9.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7.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20.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9.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15.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0.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13.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1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5.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6.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14.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22.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23.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26.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8" name="Shape 98"/>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pic>
        <p:nvPicPr>
          <p:cNvPr descr="Using the format and color theme of this remaining presentation, create a slide for this content: What Is a Voice AI Agent?&#10;A Voice AI agent is a system that can:&#10;Listen to human speech continuously&#10;&#10;&#10;Understand meaning&#10;&#10;&#10;Reason about a response&#10;&#10;&#10;Speak back naturally&#10;&#10;&#10;Allow interruptions (like humans do)&#10;&#10;&#10;This is fundamentally different from:&#10;“Record → upload → wait → reply” systems&#10;&#10;&#10;Voice AI must feel like a phone call, not a chatbot.&#10;" id="103" name="Google Shape;103;p26"/>
          <p:cNvPicPr preferRelativeResize="0"/>
          <p:nvPr/>
        </p:nvPicPr>
        <p:blipFill rotWithShape="1">
          <a:blip r:embed="rId3">
            <a:alphaModFix/>
          </a:blip>
          <a:srcRect b="0" l="0" r="0" t="0"/>
          <a:stretch/>
        </p:blipFill>
        <p:spPr>
          <a:xfrm>
            <a:off x="0" y="19936"/>
            <a:ext cx="9143545" cy="510338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descr="Using the format and color theme of this remaining presentation, create a slide for this content: Why Real-Time Is Non-Negotiable&#10;Humans expect:&#10;Immediate feedback&#10;&#10;&#10;Overlapping speech&#10;&#10;&#10;Natural pauses&#10;&#10;&#10;Interruptions&#10;&#10;&#10;If latency &gt; ~500ms:&#10;Conversations feel broken&#10;&#10;&#10;Users stop trusting the agent&#10;&#10;&#10;➡️ HTTP is not enough&#10; ➡️ WebRTC is required&#10;" id="108" name="Google Shape;108;p27"/>
          <p:cNvPicPr preferRelativeResize="0"/>
          <p:nvPr/>
        </p:nvPicPr>
        <p:blipFill rotWithShape="1">
          <a:blip r:embed="rId3">
            <a:alphaModFix/>
          </a:blip>
          <a:srcRect b="0" l="0" r="0" t="0"/>
          <a:stretch/>
        </p:blipFill>
        <p:spPr>
          <a:xfrm>
            <a:off x="0" y="19936"/>
            <a:ext cx="9143545" cy="510338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pic>
        <p:nvPicPr>
          <p:cNvPr descr="Using the format and color theme of this remaining presentation, create a slide for this content: &#10; What Is WebRTC (aiortc)?&#10;Conceptually&#10;WebRTC is a technology for:&#10;Low-latency&#10;&#10;&#10;Encrypted&#10;&#10;&#10;Real-time audio/video streaming&#10;&#10;&#10;aiortc&#10;aiortc is WebRTC for Python.&#10;It:&#10;Handles networking (NATs, firewalls)&#10;&#10;&#10;Sends &amp; receives live audio&#10;&#10;&#10;Does NOT do AI, STT, or TTS&#10;&#10;&#10;Think of aiortc as:&#10;A real-time audio cable between the user and Python&#10;&#10;Minimal aiortc mental code&#10;pc = RTCPeerConnection()&#10;pc.addTrack(AudioTrack())&#10;&#10;That’s it — aiortc just moves audio.&#10;" id="113" name="Google Shape;113;p28"/>
          <p:cNvPicPr preferRelativeResize="0"/>
          <p:nvPr/>
        </p:nvPicPr>
        <p:blipFill rotWithShape="1">
          <a:blip r:embed="rId3">
            <a:alphaModFix/>
          </a:blip>
          <a:srcRect b="0" l="0" r="0" t="0"/>
          <a:stretch/>
        </p:blipFill>
        <p:spPr>
          <a:xfrm>
            <a:off x="0" y="19936"/>
            <a:ext cx="9143545" cy="510338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pic>
        <p:nvPicPr>
          <p:cNvPr descr="Using the format and color theme of this remaining presentation, create a slide for this content: &#10; What Is Pipecat?&#10;Pipecat is a real-time voice AI framework.&#10;It:&#10;Orchestrates audio processing&#10;&#10;&#10;Connects STT → LLM → TTS&#10;&#10;&#10;Handles streaming responses&#10;&#10;&#10;Handles interruptions (barge-in)&#10;&#10;&#10;Manages conversation flow&#10;&#10;&#10;Pipecat does not:&#10;Handle WebRTC itself&#10;&#10;&#10;Provide a UI&#10;&#10;&#10;Replace LLM/STT/TTS providers&#10;&#10;&#10;Think of Pipecat as:&#10;The brain and nervous system of a voice agent&#10;" id="118" name="Google Shape;118;p29"/>
          <p:cNvPicPr preferRelativeResize="0"/>
          <p:nvPr/>
        </p:nvPicPr>
        <p:blipFill rotWithShape="1">
          <a:blip r:embed="rId3">
            <a:alphaModFix/>
          </a:blip>
          <a:srcRect b="0" l="0" r="0" t="0"/>
          <a:stretch/>
        </p:blipFill>
        <p:spPr>
          <a:xfrm>
            <a:off x="0" y="19936"/>
            <a:ext cx="9143545" cy="510338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pic>
        <p:nvPicPr>
          <p:cNvPr id="123" name="Google Shape;123;p30"/>
          <p:cNvPicPr preferRelativeResize="0"/>
          <p:nvPr/>
        </p:nvPicPr>
        <p:blipFill rotWithShape="1">
          <a:blip r:embed="rId3">
            <a:alphaModFix/>
          </a:blip>
          <a:srcRect b="0" l="0" r="0" t="0"/>
          <a:stretch/>
        </p:blipFill>
        <p:spPr>
          <a:xfrm>
            <a:off x="0" y="19936"/>
            <a:ext cx="9143544" cy="510753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pic>
        <p:nvPicPr>
          <p:cNvPr descr="Using the format and color theme of this remaining presentation, create a slide for this content: : &#10; — Frames (Pipecat’s Core Abstraction)&#10;Everything in Pipecat is a Frame.&#10;Examples:&#10;AudioFrame → audio samples&#10;&#10;&#10;TextFrame → text&#10;&#10;&#10;LLMRunFrame → “run the LLM now”&#10;&#10;&#10;Control frames → stop, interrupt, etc.&#10;&#10;&#10;This allows:&#10;Streaming&#10;&#10;&#10;Partial results&#10;&#10;&#10;Real-time control&#10;&#10;&#10;" id="128" name="Google Shape;128;p31"/>
          <p:cNvPicPr preferRelativeResize="0"/>
          <p:nvPr/>
        </p:nvPicPr>
        <p:blipFill rotWithShape="1">
          <a:blip r:embed="rId3">
            <a:alphaModFix/>
          </a:blip>
          <a:srcRect b="0" l="0" r="0" t="0"/>
          <a:stretch/>
        </p:blipFill>
        <p:spPr>
          <a:xfrm>
            <a:off x="0" y="19936"/>
            <a:ext cx="9143545" cy="510338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pic>
        <p:nvPicPr>
          <p:cNvPr descr="Using the format and color theme of this remaining presentation, create a slide for this content: : &#10;&#10;What is a Processor?&#10;A Processor is a single step in a Pipecat pipeline that:&#10;Receives frames&#10;&#10;&#10;Does one job&#10;&#10;&#10;Emits new frames&#10;&#10;&#10;Processors are chained together to form a pipeline.&#10;&#10;Examples of Processors&#10;🎧 STT Processor&#10; Audio → Text&#10;&#10;&#10;🧠 LLM Processor&#10; Text → Reasoning → Text&#10;&#10;&#10;🗣️ TTS Processor&#10; Text → Audio&#10;&#10;&#10;🎛️ RTVI Processor&#10; Controls timing, streaming, interruptions&#10;&#10;&#10;🧠 Context Aggregator&#10; Maintains conversation memory&#10;&#10;&#10;&#10;Why Processors Matter&#10;Modular &amp; replaceable&#10;&#10;&#10;Stream-friendly&#10;&#10;&#10;Easy to extend&#10;&#10;&#10;Clear separation of concerns&#10;" id="133" name="Google Shape;133;p32"/>
          <p:cNvPicPr preferRelativeResize="0"/>
          <p:nvPr/>
        </p:nvPicPr>
        <p:blipFill rotWithShape="1">
          <a:blip r:embed="rId3">
            <a:alphaModFix/>
          </a:blip>
          <a:srcRect b="0" l="0" r="0" t="0"/>
          <a:stretch/>
        </p:blipFill>
        <p:spPr>
          <a:xfrm>
            <a:off x="0" y="19936"/>
            <a:ext cx="9143545" cy="510338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pic>
        <p:nvPicPr>
          <p:cNvPr descr="Using the format and color theme of this remaining presentation, create a slide for this content: : &#10;&#10;What a Processor REALLY Is&#10;At a conceptual level:&#10;A processor is a function that reacts to incoming frames and produces outgoing frames — often asynchronously and incrementally.&#10;It does not:&#10;Handle networking&#10;&#10;&#10;Manage WebRTC&#10;&#10;&#10;Control the event loop&#10;&#10;&#10;It only focuses on one responsibility.&#10;&#10;Processors Work with Frames&#10;Processors don’t talk directly to each other.&#10; They communicate using frames.&#10;Example flow:&#10;AudioFrame&#10;  ↓&#10;STT Processor&#10;  ↓&#10;TextFrame(&quot;Hello&quot;)&#10;  ↓&#10;LLM Processor&#10;  ↓&#10;TextFrame(&quot;Hi! How can I help?&quot;)&#10;  ↓&#10;TTS Processor&#10;  ↓&#10;AudioFrame&#10;&#10;This is why Pipecat can:&#10;Stream partial responses&#10;&#10;&#10;Interrupt mid-sentence&#10;&#10;&#10;Cancel downstream processing&#10;" id="138" name="Google Shape;138;p33"/>
          <p:cNvPicPr preferRelativeResize="0"/>
          <p:nvPr/>
        </p:nvPicPr>
        <p:blipFill rotWithShape="1">
          <a:blip r:embed="rId3">
            <a:alphaModFix/>
          </a:blip>
          <a:srcRect b="0" l="0" r="0" t="0"/>
          <a:stretch/>
        </p:blipFill>
        <p:spPr>
          <a:xfrm>
            <a:off x="0" y="19936"/>
            <a:ext cx="9143545" cy="510338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pic>
        <p:nvPicPr>
          <p:cNvPr descr="Recreate it with some diagrams and previous slide theme" id="143" name="Google Shape;143;p34"/>
          <p:cNvPicPr preferRelativeResize="0"/>
          <p:nvPr/>
        </p:nvPicPr>
        <p:blipFill rotWithShape="1">
          <a:blip r:embed="rId3">
            <a:alphaModFix/>
          </a:blip>
          <a:srcRect b="0" l="0" r="0" t="0"/>
          <a:stretch/>
        </p:blipFill>
        <p:spPr>
          <a:xfrm>
            <a:off x="0" y="19936"/>
            <a:ext cx="9143545" cy="510338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descr="Using the format and color theme of this remaining presentation, create a slide for this content: : &#10;— VAD (Voice Activity Detection)&#10;What problem does VAD solve?&#10;“Is the human speaking right now?”&#10;VAD:&#10;Detects speech vs silence&#10;&#10;&#10;Prevents sending silence to STT&#10;&#10;&#10;Reduces cost&#10;&#10;&#10;Improves latency&#10;&#10;&#10;What VAD does NOT do&#10;Doesn’t understand meaning&#10;&#10;&#10;Doesn’t decide turns&#10;&#10;&#10;Doesn’t control the AI&#10;&#10;&#10;" id="148" name="Google Shape;148;p35"/>
          <p:cNvPicPr preferRelativeResize="0"/>
          <p:nvPr/>
        </p:nvPicPr>
        <p:blipFill rotWithShape="1">
          <a:blip r:embed="rId3">
            <a:alphaModFix/>
          </a:blip>
          <a:srcRect b="0" l="0" r="0" t="0"/>
          <a:stretch/>
        </p:blipFill>
        <p:spPr>
          <a:xfrm>
            <a:off x="0" y="19936"/>
            <a:ext cx="9143545" cy="510338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pic>
        <p:nvPicPr>
          <p:cNvPr descr="Using the format and color theme of this remaining presentation, create a slide for this content: : &#10;Turn Analyzer&#10;What problem does it solve?&#10;“Is the human done speaking?”&#10;Humans pause mid-sentence:&#10;“So I was thinking… uh… maybe…”&#10;The turn analyzer:&#10;Waits intelligently&#10;&#10;&#10;Prevents cutting users off&#10;&#10;&#10;Signals when a turn ends&#10;" id="153" name="Google Shape;153;p36"/>
          <p:cNvPicPr preferRelativeResize="0"/>
          <p:nvPr/>
        </p:nvPicPr>
        <p:blipFill rotWithShape="1">
          <a:blip r:embed="rId3">
            <a:alphaModFix/>
          </a:blip>
          <a:srcRect b="0" l="0" r="0" t="0"/>
          <a:stretch/>
        </p:blipFill>
        <p:spPr>
          <a:xfrm>
            <a:off x="0" y="19936"/>
            <a:ext cx="9143545" cy="510338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pic>
        <p:nvPicPr>
          <p:cNvPr descr="Using the format and color theme of this remaining presentation, create a slide with diagrams for this content: &#10;Why VAD &amp; Turn-Taking Run Inside the Transport&#10;(Before Audio Hits the Pipeline)&#10;Slide Content&#10;Work directly on raw audio&#10;&#10;&#10;Must react in milliseconds&#10;&#10;&#10;Enable instant interruption (barge-in)&#10;&#10;&#10;Prevent wasted STT / LLM / TTS work&#10;&#10;&#10;Keep the pipeline meaning-level only&#10;&#10;&#10;Mental Model&#10;Transport = ears and mouth&#10; Pipeline = brain&#10;Notes&#10;VAD and Turn-Taking are about sound, not meaning.&#10; They must react faster than AI components.&#10;If the user starts speaking while the AI talks, we must stop immediately — before audio ever reaches STT or LLM.&#10; That’s why these live in the transport layer.&#10;" id="158" name="Google Shape;158;p37"/>
          <p:cNvPicPr preferRelativeResize="0"/>
          <p:nvPr/>
        </p:nvPicPr>
        <p:blipFill rotWithShape="1">
          <a:blip r:embed="rId3">
            <a:alphaModFix/>
          </a:blip>
          <a:srcRect b="0" l="0" r="0" t="0"/>
          <a:stretch/>
        </p:blipFill>
        <p:spPr>
          <a:xfrm>
            <a:off x="0" y="19936"/>
            <a:ext cx="9143545" cy="510338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pic>
        <p:nvPicPr>
          <p:cNvPr descr="Using the format and color theme of this remaining presentation, create a slide for this content: &#10; The Pipecat Pipeline Concept&#10;A Pipeline is a chain of processors.&#10;Typical voice pipeline:&#10;Audio In&#10; → Speech-to-Text&#10; → LLM&#10; → Text-to-Speech&#10; → Audio Out&#10;&#10;Each step:&#10;Receives frames&#10;&#10;&#10;Emits frames&#10;&#10;&#10;This makes the system:&#10;Modular&#10;&#10;&#10;Replaceable&#10;&#10;&#10;Streamable&#10;" id="163" name="Google Shape;163;p38"/>
          <p:cNvPicPr preferRelativeResize="0"/>
          <p:nvPr/>
        </p:nvPicPr>
        <p:blipFill rotWithShape="1">
          <a:blip r:embed="rId3">
            <a:alphaModFix/>
          </a:blip>
          <a:srcRect b="0" l="0" r="0" t="0"/>
          <a:stretch/>
        </p:blipFill>
        <p:spPr>
          <a:xfrm>
            <a:off x="0" y="19936"/>
            <a:ext cx="9143545" cy="510338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pic>
        <p:nvPicPr>
          <p:cNvPr descr="I don't like the background color of the code, can you make that white and keep the remaining slide as it is, including the background of the slide, hust change the background color of the code to white" id="168" name="Google Shape;168;p39"/>
          <p:cNvPicPr preferRelativeResize="0"/>
          <p:nvPr/>
        </p:nvPicPr>
        <p:blipFill rotWithShape="1">
          <a:blip r:embed="rId3">
            <a:alphaModFix/>
          </a:blip>
          <a:srcRect b="0" l="0" r="0" t="0"/>
          <a:stretch/>
        </p:blipFill>
        <p:spPr>
          <a:xfrm>
            <a:off x="0" y="19936"/>
            <a:ext cx="9143545" cy="510338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pic>
        <p:nvPicPr>
          <p:cNvPr descr="Using the format and color theme of this remaining presentation, create a slide with diagrams for this content:  &#10;&#10;Pipeline vs PipelineTask vs PipelineRunner&#10;Slide Content&#10;Pipeline&#10;Blueprint of what should happen&#10;&#10;&#10;Ordered list of processors&#10;&#10;&#10;No runtime state&#10;&#10;&#10;PipelineTask&#10;One live conversation&#10;&#10;&#10;Holds state, observers, metrics&#10;&#10;&#10;Can be cancelled or restarted&#10;&#10;&#10;PipelineRunner&#10;Executes tasks&#10;&#10;&#10;Manages async loop &amp; shutdown&#10;&#10;&#10;Mental Model&#10;Pipeline = recipe&#10; PipelineTask = meal being cooked&#10; PipelineRunner = kitchen&#10;Notes&#10;You define the logic once (Pipeline).&#10; Each user gets their own running instance (PipelineTask).&#10; The runner keeps everything alive and cleanly shuts it down.&#10;This separation allows Pipecat to scale safely.&#10;" id="173" name="Google Shape;173;p40"/>
          <p:cNvPicPr preferRelativeResize="0"/>
          <p:nvPr/>
        </p:nvPicPr>
        <p:blipFill rotWithShape="1">
          <a:blip r:embed="rId3">
            <a:alphaModFix/>
          </a:blip>
          <a:srcRect b="0" l="0" r="0" t="0"/>
          <a:stretch/>
        </p:blipFill>
        <p:spPr>
          <a:xfrm>
            <a:off x="0" y="19936"/>
            <a:ext cx="9143545" cy="510338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pic>
        <p:nvPicPr>
          <p:cNvPr descr="Using the format and color theme of this remaining presentation, create a slide for this content: : &#10; — Minimal Pipecat Code Example&#10;pipeline = Pipeline([&#10;    transport.input(),&#10;    rtvi,&#10;    stt,&#10;    llm,&#10;    tts,&#10;    transport.output(),&#10;])&#10;&#10;task = PipelineTask(pipeline)&#10;runner = PipelineRunner()&#10;&#10;await runner.run(task)&#10;&#10;This runs a live, real-time voice agent.&#10;" id="178" name="Google Shape;178;p41"/>
          <p:cNvPicPr preferRelativeResize="0"/>
          <p:nvPr/>
        </p:nvPicPr>
        <p:blipFill rotWithShape="1">
          <a:blip r:embed="rId3">
            <a:alphaModFix/>
          </a:blip>
          <a:srcRect b="0" l="0" r="0" t="0"/>
          <a:stretch/>
        </p:blipFill>
        <p:spPr>
          <a:xfrm>
            <a:off x="0" y="19936"/>
            <a:ext cx="9143545" cy="510338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pic>
        <p:nvPicPr>
          <p:cNvPr descr="great. now Create a slide with this content: &#10; — RTVI (The Most Confusing Part)&#10;RTVI ≠ VAD ≠ Turn Analyzer&#10;This is the key insight:&#10;VAD &amp; Turn Analyzer listen to the human&#10; RTVI controls the AI’s behavior&#10;RTVI decides:&#10;When the LLM should run&#10;&#10;&#10;Whether to stream partial responses&#10;&#10;&#10;Whether to interrupt TTS&#10;&#10;&#10;Whether to cancel an LLM mid-response&#10;&#10;&#10;&#10;Example: Barge-In&#10;AI is speaking:&#10;“Sure, I can help you with—”&#10;User interrupts:&#10;“Actually, wait…”&#10;What happens?&#10;Component&#10;Action&#10;VAD&#10;Detects speech&#10;Turn Analyzer&#10;Not involved yet&#10;RTVI&#10;Cancels TTS &amp; LLM immediately&#10;&#10;Without RTVI:&#10;AI keeps talking&#10;&#10;&#10;Conversation feels broken&#10;&#10;&#10;" id="183" name="Google Shape;183;p42"/>
          <p:cNvPicPr preferRelativeResize="0"/>
          <p:nvPr/>
        </p:nvPicPr>
        <p:blipFill rotWithShape="1">
          <a:blip r:embed="rId3">
            <a:alphaModFix/>
          </a:blip>
          <a:srcRect b="0" l="0" r="0" t="0"/>
          <a:stretch/>
        </p:blipFill>
        <p:spPr>
          <a:xfrm>
            <a:off x="0" y="19936"/>
            <a:ext cx="9143545" cy="510338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pic>
        <p:nvPicPr>
          <p:cNvPr descr="Using the format and color theme of this remaining presentation, create a slide with diagrams for this content:  &#10;&#10;Observers in Pipecat&#10;Slide Content&#10;Watch what happens during execution&#10;&#10;&#10;Receive important events only&#10;&#10;&#10;Do NOT change pipeline behavior&#10;&#10;&#10;Used for visibility and coordination&#10;&#10;&#10;Example: RTVIObserver&#10;&#10;&#10;Mental Model&#10;Observers = security cameras&#10;Notes&#10;Observers don’t control anything — they only watch.&#10;They listen for meaningful moments like:&#10;A turn ending&#10;&#10;&#10;LLM starting&#10;&#10;&#10;TTS being interrupted&#10;&#10;&#10;This keeps logging and monitoring separate from AI logic.&#10;" id="188" name="Google Shape;188;p43"/>
          <p:cNvPicPr preferRelativeResize="0"/>
          <p:nvPr/>
        </p:nvPicPr>
        <p:blipFill rotWithShape="1">
          <a:blip r:embed="rId3">
            <a:alphaModFix/>
          </a:blip>
          <a:srcRect b="0" l="0" r="0" t="0"/>
          <a:stretch/>
        </p:blipFill>
        <p:spPr>
          <a:xfrm>
            <a:off x="0" y="19936"/>
            <a:ext cx="9143545" cy="510338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pic>
        <p:nvPicPr>
          <p:cNvPr descr="Using the format and color theme of this remaining presentation, create a slide with diagrams for this content:  &#10;&#10;RTVI vs RTVIObserve&#10;RTVI (Processor)&#10;Lives inside the pipeline&#10;&#10;&#10;Can cancel LLM or TTS&#10;&#10;&#10;Injects control frames&#10;&#10;&#10;Actively changes behavior&#10;&#10;&#10;RTVIObserver&#10;Lives in PipelineTask&#10;&#10;&#10;Listens to pipeline events&#10;&#10;&#10;Informs RTVI what actually happened&#10;&#10;&#10;Mental Model&#10;RTVI = brain + hands&#10;RTVIObserver = eyes + ears&#10;Notes&#10;RTVI must act — stop TTS, cancel LLM, switch modes.&#10; But to act correctly, it must know what’s happening.&#10;RTVIObserver provides that awareness without breaking architecture.&#10;" id="193" name="Google Shape;193;p44"/>
          <p:cNvPicPr preferRelativeResize="0"/>
          <p:nvPr/>
        </p:nvPicPr>
        <p:blipFill rotWithShape="1">
          <a:blip r:embed="rId3">
            <a:alphaModFix/>
          </a:blip>
          <a:srcRect b="0" l="0" r="0" t="0"/>
          <a:stretch/>
        </p:blipFill>
        <p:spPr>
          <a:xfrm>
            <a:off x="0" y="19936"/>
            <a:ext cx="9143545" cy="510338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pic>
        <p:nvPicPr>
          <p:cNvPr descr="Using the format and color theme of this remaining presentation, create a slide with diagrams for this content:  &#10;&#10;Do Observers Get Notified at Every Step?&#10;Slide Content&#10;❌ Not for every audio chunk&#10;&#10;&#10;❌ Not for every LLM token&#10;&#10;&#10;✅ Only meaningful milestones&#10;&#10;&#10;Protects real-time performance&#10;&#10;&#10;Mental Model&#10;Observers see chapters, not every word&#10;Notes&#10;If observers received every audio frame or token:&#10;Performance would collapse&#10;&#10;&#10;Logs would explode&#10;&#10;&#10;Pipecat emits events only when something important happens.&#10;" id="198" name="Google Shape;198;p45"/>
          <p:cNvPicPr preferRelativeResize="0"/>
          <p:nvPr/>
        </p:nvPicPr>
        <p:blipFill rotWithShape="1">
          <a:blip r:embed="rId3">
            <a:alphaModFix/>
          </a:blip>
          <a:srcRect b="0" l="0" r="0" t="0"/>
          <a:stretch/>
        </p:blipFill>
        <p:spPr>
          <a:xfrm>
            <a:off x="0" y="19936"/>
            <a:ext cx="9143545" cy="510338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pic>
        <p:nvPicPr>
          <p:cNvPr descr="Using the format and color theme of this remaining presentation, create a slide with diagrams for this content:  &#10;&#10;Metrics in Pipecat&#10;Slide Content&#10;Numbers collected per conversation&#10;&#10;&#10;Latency, duration, token usage&#10;&#10;&#10;Enabled per PipelineTask&#10;&#10;&#10;Used for cost and performance tracking&#10;&#10;&#10;Mental Model&#10;Metrics = dashboard gauges&#10;Notes&#10;Metrics answer questions like:&#10;Where is the delay?&#10;&#10;&#10;How much did this conversation cost?&#10;&#10;&#10;Which component is slow?&#10;&#10;&#10;They are per-user and reset for each task.&#10;" id="203" name="Google Shape;203;p46"/>
          <p:cNvPicPr preferRelativeResize="0"/>
          <p:nvPr/>
        </p:nvPicPr>
        <p:blipFill rotWithShape="1">
          <a:blip r:embed="rId3">
            <a:alphaModFix/>
          </a:blip>
          <a:srcRect b="0" l="0" r="0" t="0"/>
          <a:stretch/>
        </p:blipFill>
        <p:spPr>
          <a:xfrm>
            <a:off x="0" y="19936"/>
            <a:ext cx="9143545" cy="510338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pic>
        <p:nvPicPr>
          <p:cNvPr descr="Using the format and color theme of this remaining presentation, create a slide for this content: : &#10; — What Happens When a User Connects?&#10;@transport.event_handler(&quot;on_client_connected&quot;)&#10;async def on_connect(_, __):&#10;    await task.queue_frames([LLMRunFrame()])&#10;&#10;This:&#10;Triggers the LLM&#10;&#10;&#10;Makes the bot speak first&#10;&#10;&#10;Starts the conversation naturally&#10;&#10;&#10;" id="208" name="Google Shape;208;p47"/>
          <p:cNvPicPr preferRelativeResize="0"/>
          <p:nvPr/>
        </p:nvPicPr>
        <p:blipFill rotWithShape="1">
          <a:blip r:embed="rId3">
            <a:alphaModFix/>
          </a:blip>
          <a:srcRect b="0" l="0" r="0" t="0"/>
          <a:stretch/>
        </p:blipFill>
        <p:spPr>
          <a:xfrm>
            <a:off x="0" y="19936"/>
            <a:ext cx="9143545" cy="510338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pic>
        <p:nvPicPr>
          <p:cNvPr descr="Using the format and color theme of this remaining presentation, create a slide with diagrams for this content:  &#10;Pipecat in One Mental Picture&#10;Slide Content&#10;Transport handles sound &amp; timing&#10;&#10;&#10;Pipeline handles meaning &amp; AI&#10;&#10;&#10;Task holds state &amp; metrics&#10;&#10;&#10;Observers provide visibility&#10;&#10;&#10;RTVI coordinates real-time control&#10;&#10;&#10;Mental Model&#10;Human conversation loop&#10;Notes&#10;Pipecat mirrors how humans converse:&#10;Hear → think → speak → interrupt → respond&#10;&#10;&#10;That’s why it feels natural in real-time voice.&#10;" id="213" name="Google Shape;213;p48"/>
          <p:cNvPicPr preferRelativeResize="0"/>
          <p:nvPr/>
        </p:nvPicPr>
        <p:blipFill rotWithShape="1">
          <a:blip r:embed="rId3">
            <a:alphaModFix/>
          </a:blip>
          <a:srcRect b="0" l="0" r="0" t="0"/>
          <a:stretch/>
        </p:blipFill>
        <p:spPr>
          <a:xfrm>
            <a:off x="0" y="19936"/>
            <a:ext cx="9143545" cy="510338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pic>
        <p:nvPicPr>
          <p:cNvPr descr="Using the format and color theme of this remaining presentation, create a slide for this content: : &#10;— Putting It All Together (Final Mental Model)&#10;aiortc moves sound&#10; VAD detects speech&#10; Turn Analyzer detects turn completion&#10; RTVI controls real-time AI behavior&#10; Pipecat Pipeline transforms audio → intelligence → audio&#10;Result:&#10; 🎤 Natural&#10; ⚡ Low latency&#10; 🗣 Interruptible&#10; 🧠 Conversational" id="218" name="Google Shape;218;p49"/>
          <p:cNvPicPr preferRelativeResize="0"/>
          <p:nvPr/>
        </p:nvPicPr>
        <p:blipFill rotWithShape="1">
          <a:blip r:embed="rId3">
            <a:alphaModFix/>
          </a:blip>
          <a:srcRect b="0" l="0" r="0" t="0"/>
          <a:stretch/>
        </p:blipFill>
        <p:spPr>
          <a:xfrm>
            <a:off x="0" y="19936"/>
            <a:ext cx="9143545" cy="510338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pic>
        <p:nvPicPr>
          <p:cNvPr descr="Using the format and color theme of this remaining presentation, create a slide for this content:&#10; — Final One-Sentence Summary (Perfect Closing Slide)&#10;Pipecat lets you build human-like voice conversations by combining real-time audio transport with intelligent, interruptible AI pipelines.&#10;" id="223" name="Google Shape;223;p50"/>
          <p:cNvPicPr preferRelativeResize="0"/>
          <p:nvPr/>
        </p:nvPicPr>
        <p:blipFill rotWithShape="1">
          <a:blip r:embed="rId3">
            <a:alphaModFix/>
          </a:blip>
          <a:srcRect b="0" l="0" r="0" t="0"/>
          <a:stretch/>
        </p:blipFill>
        <p:spPr>
          <a:xfrm>
            <a:off x="0" y="19936"/>
            <a:ext cx="9143545" cy="510338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